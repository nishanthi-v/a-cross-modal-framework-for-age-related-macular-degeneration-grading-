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CE48FB-6564-4EF4-A897-1465E443ED20}" v="25" dt="2026-03-29T11:12:09.817"/>
  </p1510:revLst>
</p1510:revInfo>
</file>

<file path=ppt/tableStyles.xml><?xml version="1.0" encoding="utf-8"?>
<a:tblStyleLst xmlns:a="http://schemas.openxmlformats.org/drawingml/2006/main" def="{B0D3315C-5BBF-4F93-85FC-E1C3DE0A209C}">
  <a:tblStyle styleId="{B0D3315C-5BBF-4F93-85FC-E1C3DE0A20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YA N" userId="2cf0c641c2b01771" providerId="LiveId" clId="{2E3EA91D-2C24-4425-AA97-F3931F075347}"/>
    <pc:docChg chg="undo custSel modSld">
      <pc:chgData name="KAVIYA N" userId="2cf0c641c2b01771" providerId="LiveId" clId="{2E3EA91D-2C24-4425-AA97-F3931F075347}" dt="2026-03-29T11:12:01.437" v="106" actId="27636"/>
      <pc:docMkLst>
        <pc:docMk/>
      </pc:docMkLst>
      <pc:sldChg chg="modSp mod">
        <pc:chgData name="KAVIYA N" userId="2cf0c641c2b01771" providerId="LiveId" clId="{2E3EA91D-2C24-4425-AA97-F3931F075347}" dt="2026-03-29T11:02:30.870" v="99" actId="255"/>
        <pc:sldMkLst>
          <pc:docMk/>
          <pc:sldMk cId="0" sldId="258"/>
        </pc:sldMkLst>
        <pc:spChg chg="mod">
          <ac:chgData name="KAVIYA N" userId="2cf0c641c2b01771" providerId="LiveId" clId="{2E3EA91D-2C24-4425-AA97-F3931F075347}" dt="2026-03-29T11:02:30.870" v="99" actId="255"/>
          <ac:spMkLst>
            <pc:docMk/>
            <pc:sldMk cId="0" sldId="258"/>
            <ac:spMk id="104" creationId="{00000000-0000-0000-0000-000000000000}"/>
          </ac:spMkLst>
        </pc:spChg>
        <pc:spChg chg="mod">
          <ac:chgData name="KAVIYA N" userId="2cf0c641c2b01771" providerId="LiveId" clId="{2E3EA91D-2C24-4425-AA97-F3931F075347}" dt="2026-03-29T10:47:37.576" v="39" actId="2711"/>
          <ac:spMkLst>
            <pc:docMk/>
            <pc:sldMk cId="0" sldId="258"/>
            <ac:spMk id="105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1:02:13.518" v="98" actId="255"/>
        <pc:sldMkLst>
          <pc:docMk/>
          <pc:sldMk cId="0" sldId="259"/>
        </pc:sldMkLst>
        <pc:spChg chg="mod">
          <ac:chgData name="KAVIYA N" userId="2cf0c641c2b01771" providerId="LiveId" clId="{2E3EA91D-2C24-4425-AA97-F3931F075347}" dt="2026-03-29T11:02:13.518" v="98" actId="255"/>
          <ac:spMkLst>
            <pc:docMk/>
            <pc:sldMk cId="0" sldId="259"/>
            <ac:spMk id="111" creationId="{00000000-0000-0000-0000-000000000000}"/>
          </ac:spMkLst>
        </pc:spChg>
        <pc:spChg chg="mod">
          <ac:chgData name="KAVIYA N" userId="2cf0c641c2b01771" providerId="LiveId" clId="{2E3EA91D-2C24-4425-AA97-F3931F075347}" dt="2026-03-29T10:49:36.088" v="60" actId="27636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1:01:48.200" v="97" actId="255"/>
        <pc:sldMkLst>
          <pc:docMk/>
          <pc:sldMk cId="0" sldId="264"/>
        </pc:sldMkLst>
        <pc:spChg chg="mod">
          <ac:chgData name="KAVIYA N" userId="2cf0c641c2b01771" providerId="LiveId" clId="{2E3EA91D-2C24-4425-AA97-F3931F075347}" dt="2026-03-29T11:01:48.200" v="97" actId="255"/>
          <ac:spMkLst>
            <pc:docMk/>
            <pc:sldMk cId="0" sldId="264"/>
            <ac:spMk id="145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0:50:37.450" v="61" actId="14100"/>
        <pc:sldMkLst>
          <pc:docMk/>
          <pc:sldMk cId="0" sldId="266"/>
        </pc:sldMkLst>
        <pc:spChg chg="mod">
          <ac:chgData name="KAVIYA N" userId="2cf0c641c2b01771" providerId="LiveId" clId="{2E3EA91D-2C24-4425-AA97-F3931F075347}" dt="2026-03-29T10:50:37.450" v="61" actId="14100"/>
          <ac:spMkLst>
            <pc:docMk/>
            <pc:sldMk cId="0" sldId="266"/>
            <ac:spMk id="161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0:51:26.304" v="63" actId="2711"/>
        <pc:sldMkLst>
          <pc:docMk/>
          <pc:sldMk cId="0" sldId="267"/>
        </pc:sldMkLst>
        <pc:spChg chg="mod">
          <ac:chgData name="KAVIYA N" userId="2cf0c641c2b01771" providerId="LiveId" clId="{2E3EA91D-2C24-4425-AA97-F3931F075347}" dt="2026-03-29T10:51:26.304" v="63" actId="2711"/>
          <ac:spMkLst>
            <pc:docMk/>
            <pc:sldMk cId="0" sldId="267"/>
            <ac:spMk id="171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0:52:21.652" v="71" actId="2711"/>
        <pc:sldMkLst>
          <pc:docMk/>
          <pc:sldMk cId="0" sldId="268"/>
        </pc:sldMkLst>
        <pc:spChg chg="mod">
          <ac:chgData name="KAVIYA N" userId="2cf0c641c2b01771" providerId="LiveId" clId="{2E3EA91D-2C24-4425-AA97-F3931F075347}" dt="2026-03-29T10:52:21.652" v="71" actId="2711"/>
          <ac:spMkLst>
            <pc:docMk/>
            <pc:sldMk cId="0" sldId="268"/>
            <ac:spMk id="181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1:12:01.437" v="106" actId="27636"/>
        <pc:sldMkLst>
          <pc:docMk/>
          <pc:sldMk cId="0" sldId="269"/>
        </pc:sldMkLst>
        <pc:spChg chg="mod">
          <ac:chgData name="KAVIYA N" userId="2cf0c641c2b01771" providerId="LiveId" clId="{2E3EA91D-2C24-4425-AA97-F3931F075347}" dt="2026-03-29T11:12:01.437" v="106" actId="27636"/>
          <ac:spMkLst>
            <pc:docMk/>
            <pc:sldMk cId="0" sldId="269"/>
            <ac:spMk id="191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1:01:26.976" v="96" actId="255"/>
        <pc:sldMkLst>
          <pc:docMk/>
          <pc:sldMk cId="0" sldId="271"/>
        </pc:sldMkLst>
        <pc:spChg chg="mod">
          <ac:chgData name="KAVIYA N" userId="2cf0c641c2b01771" providerId="LiveId" clId="{2E3EA91D-2C24-4425-AA97-F3931F075347}" dt="2026-03-29T11:01:26.976" v="96" actId="255"/>
          <ac:spMkLst>
            <pc:docMk/>
            <pc:sldMk cId="0" sldId="271"/>
            <ac:spMk id="210" creationId="{00000000-0000-0000-0000-000000000000}"/>
          </ac:spMkLst>
        </pc:spChg>
        <pc:spChg chg="mod">
          <ac:chgData name="KAVIYA N" userId="2cf0c641c2b01771" providerId="LiveId" clId="{2E3EA91D-2C24-4425-AA97-F3931F075347}" dt="2026-03-29T11:00:37.049" v="94" actId="123"/>
          <ac:spMkLst>
            <pc:docMk/>
            <pc:sldMk cId="0" sldId="271"/>
            <ac:spMk id="211" creationId="{00000000-0000-0000-0000-000000000000}"/>
          </ac:spMkLst>
        </pc:spChg>
      </pc:sldChg>
      <pc:sldChg chg="modSp mod">
        <pc:chgData name="KAVIYA N" userId="2cf0c641c2b01771" providerId="LiveId" clId="{2E3EA91D-2C24-4425-AA97-F3931F075347}" dt="2026-03-29T11:01:16.323" v="95" actId="255"/>
        <pc:sldMkLst>
          <pc:docMk/>
          <pc:sldMk cId="0" sldId="272"/>
        </pc:sldMkLst>
        <pc:spChg chg="mod">
          <ac:chgData name="KAVIYA N" userId="2cf0c641c2b01771" providerId="LiveId" clId="{2E3EA91D-2C24-4425-AA97-F3931F075347}" dt="2026-03-29T11:01:16.323" v="95" actId="255"/>
          <ac:spMkLst>
            <pc:docMk/>
            <pc:sldMk cId="0" sldId="272"/>
            <ac:spMk id="217" creationId="{00000000-0000-0000-0000-000000000000}"/>
          </ac:spMkLst>
        </pc:spChg>
        <pc:spChg chg="mod">
          <ac:chgData name="KAVIYA N" userId="2cf0c641c2b01771" providerId="LiveId" clId="{2E3EA91D-2C24-4425-AA97-F3931F075347}" dt="2026-03-29T11:00:11.240" v="92" actId="113"/>
          <ac:spMkLst>
            <pc:docMk/>
            <pc:sldMk cId="0" sldId="272"/>
            <ac:spMk id="2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3FA81375-DFD1-87CD-80A8-645EE46C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E1962449-61C6-5BC6-1C1B-C3AEB594B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D69EDDF8-4189-B612-826B-3095F3AEB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3195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0" name="Google Shape;1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9cd15bd2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8" name="Google Shape;168;g3d29cd15bd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9cd15bd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8" name="Google Shape;178;g3d29cd15bd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29cd15bd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8" name="Google Shape;188;g3d29cd15b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9cd15bd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8" name="Google Shape;198;g3d29cd15bd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5" name="Google Shape;2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20CS8504 &amp; PROJECT WORK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 06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30-03-2026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0" y="136525"/>
            <a:ext cx="12119100" cy="179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A CROSS-MODAL ATTENTION FRAMEWORK FOR INTERPRETABLE AGE-RELATED MACULAR DEGENERATION GRADING USING FUNDUS AND OCT IMAGE FUSION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276084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Mrs.R.Jasmine M.E.,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AP/CSE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Kalaiyarasi M – 811722104067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Kaviya N – 811722104073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Monisha V – 811722104093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Nishanthi V – 811722104103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1591409"/>
            <a:ext cx="10515600" cy="420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 algn="just">
              <a:lnSpc>
                <a:spcPct val="170000"/>
              </a:lnSpc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develop an automated deep learning system for detecting and grading AMD using fundus and OCT images.</a:t>
            </a:r>
          </a:p>
          <a:p>
            <a:pPr marL="514350" lvl="0" indent="-514350" algn="just">
              <a:lnSpc>
                <a:spcPct val="170000"/>
              </a:lnSpc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improve accuracy by using deep learning models such as ResNet50 and DenseNet121 for better feature extraction.</a:t>
            </a:r>
          </a:p>
          <a:p>
            <a:pPr marL="514350" lvl="0" indent="-514350" algn="just">
              <a:lnSpc>
                <a:spcPct val="170000"/>
              </a:lnSpc>
              <a:spcBef>
                <a:spcPts val="0"/>
              </a:spcBef>
              <a:buClr>
                <a:schemeClr val="tx1"/>
              </a:buClr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 provide fast and reliable results with confidence score to assist doctors in early diagnosis and decision-making.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838200" y="1064977"/>
            <a:ext cx="10515600" cy="579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Age-Related Macular Degeneration (AMD) is a serious eye disease that can cause vision loss in older people.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It affects the macula, which is responsible for clear central vision.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Fundus images show the surface of the retina, while OCT images show internal retinal layers.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Manual diagnosis is time-consuming and depends on doctor experience.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This project uses deep learning models like ResNet50 and DenseNet121 to automatically detect and classify AMD. </a:t>
            </a:r>
          </a:p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/>
          <p:cNvGraphicFramePr/>
          <p:nvPr>
            <p:extLst>
              <p:ext uri="{D42A27DB-BD31-4B8C-83A1-F6EECF244321}">
                <p14:modId xmlns:p14="http://schemas.microsoft.com/office/powerpoint/2010/main" val="2539595819"/>
              </p:ext>
            </p:extLst>
          </p:nvPr>
        </p:nvGraphicFramePr>
        <p:xfrm>
          <a:off x="0" y="707999"/>
          <a:ext cx="12192001" cy="6112573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369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6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72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18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A Concentrated Machine Learning-Based Classification System for AMD Diagnosis Using Fundus Images(2024)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da-DK" sz="1800" dirty="0">
                          <a:latin typeface="Arial Narrow" panose="020B0606020202030204" pitchFamily="34" charset="0"/>
                        </a:rPr>
                        <a:t>Abd El-Khalek A. et al.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This paper uses machine learning to detect AMD from fundus images. It improves accuracy by extracting important retinal features.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dirty="0">
                          <a:latin typeface="Arial Narrow" panose="020B0606020202030204" pitchFamily="34" charset="0"/>
                        </a:rPr>
                        <a:t>Machine Learning (Feature-Based Classification)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18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Enhancing AMD Detection Using OCT Imaging: An AI Approach (2024)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dirty="0">
                          <a:latin typeface="Arial Narrow" panose="020B0606020202030204" pitchFamily="34" charset="0"/>
                        </a:rPr>
                        <a:t>Alenezi A. et al.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This study uses AI with OCT images to detect AMD. It helps identify structural changes in the retina more clearly.</a:t>
                      </a: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Deep Learning with OCT Image Analysis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353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Arial Narrow" panose="020B0606020202030204" pitchFamily="34" charset="0"/>
                        </a:rPr>
                        <a:t>Cross-Modal Attention Network for Retinal Disease Classification (2024)</a:t>
                      </a: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dirty="0">
                          <a:latin typeface="Arial Narrow" panose="020B0606020202030204" pitchFamily="34" charset="0"/>
                        </a:rPr>
                        <a:t>Liu Z. et al.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This paper proposes a cross-modal attention model to combine different image types. It improves classification by focusing on important features.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dirty="0">
                          <a:latin typeface="Arial Narrow" panose="020B0606020202030204" pitchFamily="34" charset="0"/>
                        </a:rPr>
                        <a:t>Cross-Modal Attention Network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4367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Multimodal Deep Learning for Automated AMD Classification Using Fundus and OCT Images (2024)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dirty="0">
                          <a:latin typeface="Arial Narrow" panose="020B0606020202030204" pitchFamily="34" charset="0"/>
                        </a:rPr>
                        <a:t>Li Zhang et al.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This study uses AI with OCT images to detect AMD. It helps identify structural changes in the retina more clearly.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Multimodal Deep Learning (Feature Fusion)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9826315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FDAB2390-BFA8-7752-142E-26BC87D0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65C93944-593A-3387-3B41-10A5D7CD85F0}"/>
              </a:ext>
            </a:extLst>
          </p:cNvPr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FB9EA03B-D777-CC6B-53E7-51542912D2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D0021C78-DBDC-4855-1A55-1818BCAD0C25}"/>
              </a:ext>
            </a:extLst>
          </p:cNvPr>
          <p:cNvSpPr/>
          <p:nvPr/>
        </p:nvSpPr>
        <p:spPr>
          <a:xfrm>
            <a:off x="68855" y="0"/>
            <a:ext cx="1205430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>
            <a:extLst>
              <a:ext uri="{FF2B5EF4-FFF2-40B4-BE49-F238E27FC236}">
                <a16:creationId xmlns:a16="http://schemas.microsoft.com/office/drawing/2014/main" id="{074401CC-A67E-9E6E-DD8D-9FEED2E10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130203"/>
              </p:ext>
            </p:extLst>
          </p:nvPr>
        </p:nvGraphicFramePr>
        <p:xfrm>
          <a:off x="0" y="1"/>
          <a:ext cx="12181840" cy="6857999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3675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467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977739564"/>
                  </a:ext>
                </a:extLst>
              </a:tr>
              <a:tr h="1411304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Deep Learning-Based AMD Detection Using Fundus Images (2024)</a:t>
                      </a:r>
                      <a:endParaRPr sz="1800" b="0" u="none" strike="noStrike" cap="non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sv-SE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S. Kumar, R. Patel, V. Singh</a:t>
                      </a:r>
                      <a:endParaRPr sz="1800" b="0" u="none" strike="noStrike" cap="non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This paper uses fundus images to detect AMD using deep learning. It focuses on identifying features like drusen and pigmentation changes.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Convolutional Neural Networks (CNN) on Fundus Images</a:t>
                      </a:r>
                      <a:endParaRPr sz="1800" b="0" u="none" strike="noStrike" cap="non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937560442"/>
                  </a:ext>
                </a:extLst>
              </a:tr>
              <a:tr h="1740189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Multi-Modal and Multi-View Fundus Image Fusion for Retinopathy Diagnosis (2025)</a:t>
                      </a:r>
                      <a:endParaRPr sz="1800" b="0" u="none" strike="noStrike" cap="non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Huang Y. et al.</a:t>
                      </a:r>
                      <a:endParaRPr sz="1800" b="0" u="none" strike="noStrike" cap="non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This research combines multiple fundus images using attention methods. It improves diagnosis by capturing more detailed retinal information.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Multi-Scale Cross-Attention &amp; Transformer-Based Model</a:t>
                      </a:r>
                      <a:endParaRPr sz="1800" b="0" u="none" strike="noStrike" cap="non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3807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Lesion Detection in AMD Using Multi-Modal Imaging and Machine Learning (2025)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dirty="0">
                          <a:latin typeface="Arial Narrow" panose="020B0606020202030204" pitchFamily="34" charset="0"/>
                        </a:rPr>
                        <a:t>Yap C. et al.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This paper uses machine learning to detect AMD from fundus images. It improves accuracy by extracting important retinal features.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Machine Learning with Multimodal Imaging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02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Automated AMD Classification Using OCT Images (2025)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fi-FI" sz="1800" dirty="0">
                          <a:latin typeface="Arial Narrow" panose="020B0606020202030204" pitchFamily="34" charset="0"/>
                        </a:rPr>
                        <a:t>A. Mehta, K. Joshi, P. Nair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This paper uses OCT images to classify AMD by analyzing retinal layer structures. It helps detect structural abnormalities in early stages.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dirty="0">
                          <a:latin typeface="Arial Narrow" panose="020B0606020202030204" pitchFamily="34" charset="0"/>
                        </a:rPr>
                        <a:t>Deep Learning (CNN) on OCT Images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032101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9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 ARCHITECTURE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38D8E5-C2B2-82E4-7F4C-74DB98138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736" y="862065"/>
            <a:ext cx="5159943" cy="5591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IDENTIFI</a:t>
            </a: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ED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78928" y="1521822"/>
            <a:ext cx="10787742" cy="4164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The system uses only OCT images, so it misses important details from fundus images.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It does not combine different image types, so accuracy is lower.</a:t>
            </a:r>
          </a:p>
          <a:p>
            <a:pPr marL="342900" indent="-342900" algn="just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The prediction is less accurate compared to the proposed system. </a:t>
            </a:r>
          </a:p>
          <a:p>
            <a:pPr marL="342900" indent="-342900" algn="just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The system cannot clearly identify different stages of AMD.</a:t>
            </a:r>
          </a:p>
          <a:p>
            <a:pPr marL="342900" indent="-342900" algn="just">
              <a:lnSpc>
                <a:spcPct val="150000"/>
              </a:lnSpc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</a:rPr>
              <a:t>It does not provide detailed analysis, so doctors may not fully trust the result. </a:t>
            </a:r>
          </a:p>
          <a:p>
            <a:pPr marL="342900" lvl="0" indent="-342900">
              <a:lnSpc>
                <a:spcPct val="90000"/>
              </a:lnSpc>
              <a:buClr>
                <a:schemeClr val="dk1"/>
              </a:buClr>
              <a:buSzPts val="2800"/>
              <a:buFont typeface="+mj-lt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ARCHITECTURE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60B6E6-6481-9CFD-1839-0BA36BB1E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884255"/>
            <a:ext cx="6319520" cy="58372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70868" y="2671762"/>
            <a:ext cx="540537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altLang="en-US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Processor    : Intel  processor 2.6.0GHZ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altLang="en-US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RAM  	           : 8 GB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altLang="en-US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Hard disk        	: 256 GB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altLang="en-US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Compact Disk 	: 650 Mb</a:t>
            </a:r>
          </a:p>
          <a:p>
            <a:pPr marL="51435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4"/>
          </p:nvPr>
        </p:nvSpPr>
        <p:spPr>
          <a:xfrm>
            <a:off x="6715760" y="2539370"/>
            <a:ext cx="5405371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Server Side : Python 3.11(64-bit)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Client Side  : HTML, CSS, Bootstrap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Back end    : SQLite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OS             : Windows 11 64 –bit </a:t>
            </a:r>
            <a:endParaRPr lang="en-US" cap="all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endParaRPr lang="en-IN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838200" y="156146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IMAGE ACQUISITION MODULE</a:t>
            </a:r>
          </a:p>
          <a:p>
            <a:pPr marL="514350" lvl="0" indent="-514350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IMAGE PREPROCESSING MODULE</a:t>
            </a:r>
          </a:p>
          <a:p>
            <a:pPr marL="514350" lvl="0" indent="-514350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MODEL CONSTRUCTION MODULE</a:t>
            </a:r>
          </a:p>
          <a:p>
            <a:pPr marL="514350" lvl="0" indent="-514350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CLASSIFICATION MODULE</a:t>
            </a:r>
          </a:p>
          <a:p>
            <a:pPr marL="514350" lvl="0" indent="-514350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DISEASE DIAGNOSIS MODULE</a:t>
            </a:r>
            <a:endParaRPr dirty="0">
              <a:latin typeface="Arial Narrow" panose="020B0606020202030204" pitchFamily="34" charset="0"/>
              <a:sym typeface="Arial Narrow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>
                <a:latin typeface="Arial Narrow" panose="020B0606020202030204" pitchFamily="34" charset="0"/>
              </a:rPr>
              <a:t>IMAGE ACQUISITION MODULE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>
            <a:off x="838200" y="1215905"/>
            <a:ext cx="5765800" cy="423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Collects fundus and OCT images from the user through upload.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Supports single image or both images for better analysis. </a:t>
            </a:r>
          </a:p>
          <a:p>
            <a:pPr marL="514350" lvl="0" indent="-514350" algn="just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E6D96-6B19-E803-5685-106E712CD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0" y="1215905"/>
            <a:ext cx="5435600" cy="53230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/>
            <a:r>
              <a:rPr lang="en-IN" b="1" dirty="0">
                <a:latin typeface="Arial Narrow" panose="020B0606020202030204" pitchFamily="34" charset="0"/>
              </a:rPr>
              <a:t>IMAGE PREPROCESSING MODULE</a:t>
            </a:r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602996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Images are resized and normalized to maintain uniform size.</a:t>
            </a:r>
          </a:p>
          <a:p>
            <a:pPr marL="514350" indent="-514350" algn="just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Improves image quality using basic enhancement techniques.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A85448-9531-B599-7CB6-595316B97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03725"/>
            <a:ext cx="5151120" cy="54300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>
                <a:latin typeface="Arial Narrow" panose="020B0606020202030204" pitchFamily="34" charset="0"/>
              </a:rPr>
              <a:t>MODEL CONSTRUCTION MODULE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838200" y="1341119"/>
            <a:ext cx="6690360" cy="4113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Uses ResNet50 and DenseNet121 for feature extraction.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Learns important patterns from fundus and OCT images.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3AD69B-138B-FD0D-F3B0-1DA5E928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920" y="1341120"/>
            <a:ext cx="4246880" cy="4785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>
                <a:latin typeface="Arial Narrow" panose="020B0606020202030204" pitchFamily="34" charset="0"/>
              </a:rPr>
              <a:t>CLASSIFICATION MODULE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648716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514350" lvl="0" indent="-514350" algn="just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extracted features such as texture (drusen), structural patterns (retinal layers), and spatial features are used to classify AMD stages.</a:t>
            </a:r>
          </a:p>
          <a:p>
            <a:pPr marL="514350" lvl="0" indent="-514350" algn="just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>
                <a:latin typeface="Arial Narrow" panose="020B0606020202030204" pitchFamily="34" charset="0"/>
              </a:rPr>
              <a:t>Softmax</a:t>
            </a:r>
            <a:r>
              <a:rPr lang="en-US" dirty="0">
                <a:latin typeface="Arial Narrow" panose="020B0606020202030204" pitchFamily="34" charset="0"/>
              </a:rPr>
              <a:t> function changes the model output into percentage values so the system can easily choose the final result.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14A00-3920-11D7-542F-3599B2CAB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103725"/>
            <a:ext cx="4785360" cy="49414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>
                <a:latin typeface="Arial Narrow" panose="020B0606020202030204" pitchFamily="34" charset="0"/>
              </a:rPr>
              <a:t>DISEASE DIAGNOSIS MODULE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654812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Final prediction and confidence score are displayed to the user.</a:t>
            </a:r>
          </a:p>
          <a:p>
            <a:pPr marL="514350" lvl="0" indent="-514350" algn="just">
              <a:lnSpc>
                <a:spcPct val="150000"/>
              </a:lnSpc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Results are stored for future reference and analysis.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1E4A71-D87C-A3CC-5C2F-53A953FDB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920" y="1249680"/>
            <a:ext cx="4602480" cy="4836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The system successfully detects and classifies AMD using deep learning models like ResNet50 and DenseNet121.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It helps doctors by providing fast and reliable results for early diagnosis and treatment.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FUTURE ENHANCEMENTS </a:t>
            </a: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Develop a real-time cloud-based system for remote diagnosis and storage.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Integrate Grad-CAM or Explainable AI (XAI) to highlight important retinal regions.</a:t>
            </a: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Extend the system to detect multiple eye diseases like Diabetic Retinopathy and Glaucoma.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986</Words>
  <Application>Microsoft Office PowerPoint</Application>
  <PresentationFormat>Widescreen</PresentationFormat>
  <Paragraphs>133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Narrow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IMAGE ACQUISITION MODULE</vt:lpstr>
      <vt:lpstr>IMAGE PREPROCESSING MODULE</vt:lpstr>
      <vt:lpstr>MODEL CONSTRUCTION MODULE</vt:lpstr>
      <vt:lpstr>CLASSIFICATION MODULE</vt:lpstr>
      <vt:lpstr>DISEASE DIAGNOSIS MODULE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KaviyaN</dc:creator>
  <cp:lastModifiedBy>KAVIYA N</cp:lastModifiedBy>
  <cp:revision>4</cp:revision>
  <dcterms:modified xsi:type="dcterms:W3CDTF">2026-03-29T11:12:11Z</dcterms:modified>
</cp:coreProperties>
</file>